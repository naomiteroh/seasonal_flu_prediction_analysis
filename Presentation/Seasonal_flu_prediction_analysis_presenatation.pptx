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3326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1D173-B6A3-A8C4-727C-CDD3C787E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3672BB-FF1B-7613-2CC9-EB1152C971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E755F3-B239-BD20-683E-760FB36707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B55EF0-640A-DA28-8E56-9603C016EE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7330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4A0000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0" y="-457200"/>
            <a:ext cx="3657600" cy="3657600"/>
          </a:xfrm>
          <a:prstGeom prst="ellipse">
            <a:avLst/>
          </a:prstGeom>
          <a:solidFill>
            <a:srgbClr val="00B4D8">
              <a:alpha val="12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315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B4D8"/>
                </a:solidFill>
              </a:rPr>
              <a:t>SEASONAL FLU VACCINE PREDICTION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7315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A Machine Learning</a:t>
            </a:r>
            <a:endParaRPr lang="en-US" sz="3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Classification Project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9260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BD5E1"/>
                </a:solidFill>
              </a:rPr>
              <a:t>Following the CRISP-DM Framework | Kenyan Public Health Context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4617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NAOMI OPIYO  |  16</a:t>
            </a:r>
            <a:r>
              <a:rPr lang="en-US" sz="1000" baseline="30000" dirty="0">
                <a:solidFill>
                  <a:srgbClr val="64748B"/>
                </a:solidFill>
              </a:rPr>
              <a:t>TH</a:t>
            </a:r>
            <a:r>
              <a:rPr lang="en-US" sz="1000" dirty="0">
                <a:solidFill>
                  <a:srgbClr val="64748B"/>
                </a:solidFill>
              </a:rPr>
              <a:t>  MARCH 2026  |  Data: National 2009 H1N1 Flu Survey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CRISP-DM FRAMEWORK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2651760" cy="41148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61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2618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Business Understanding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73736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</a:rPr>
              <a:t>Stakeholder, problem statement and why ML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1887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188720"/>
            <a:ext cx="2651760" cy="41148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11" name="Text 9"/>
          <p:cNvSpPr/>
          <p:nvPr/>
        </p:nvSpPr>
        <p:spPr>
          <a:xfrm>
            <a:off x="3291840" y="1261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703320" y="12618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Data Understanding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37560" y="173736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</a:rPr>
              <a:t>Dataset overview and key findings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1887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188720"/>
            <a:ext cx="2651760" cy="41148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1261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37960" y="12618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Data Preparation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72200" y="173736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</a:rPr>
              <a:t>Cleaning, feature selection and preprocessing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83464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2834640"/>
            <a:ext cx="2651760" cy="41148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2907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</a:rPr>
              <a:t>04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68680" y="29077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Modeling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338328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</a:rPr>
              <a:t>Five models built iteratively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0" y="283464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00400" y="2834640"/>
            <a:ext cx="2651760" cy="41148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26" name="Text 24"/>
          <p:cNvSpPr/>
          <p:nvPr/>
        </p:nvSpPr>
        <p:spPr>
          <a:xfrm>
            <a:off x="3291840" y="2907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</a:rPr>
              <a:t>05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703320" y="29077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Evaluation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337560" y="338328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</a:rPr>
              <a:t>Results and best model selection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283464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2834640"/>
            <a:ext cx="2651760" cy="41148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31" name="Text 29"/>
          <p:cNvSpPr/>
          <p:nvPr/>
        </p:nvSpPr>
        <p:spPr>
          <a:xfrm>
            <a:off x="6126480" y="2907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</a:rPr>
              <a:t>06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537960" y="29077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Recommendations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72200" y="338328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</a:rPr>
              <a:t>Actionable insights for stakeholders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4A00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BUSINESS UNDERSTANDING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02336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97280"/>
            <a:ext cx="4023360" cy="365760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124712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600200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</a:rPr>
              <a:t>Kenya has two flu seasons annually (March-May and October-December). Seasonal flu vaccination rates remain low particularly among younger and lower income populations.
</a:t>
            </a:r>
            <a:r>
              <a:rPr lang="en-US" sz="1100" b="1" dirty="0">
                <a:solidFill>
                  <a:srgbClr val="333333"/>
                </a:solidFill>
              </a:rPr>
              <a:t>Can we predict who will NOT get vaccinated so we can intervene proactively?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109728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1097280"/>
            <a:ext cx="4023360" cy="365760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124712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Stakeholder 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157276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3D"/>
                </a:solidFill>
              </a:rPr>
              <a:t>County Director of Health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96596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</a:rPr>
              <a:t>Identify WHICH communities to target for seasonal flu outreach every flu season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46320" y="301752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46320" y="3017520"/>
            <a:ext cx="4023360" cy="365760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3044952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Stakeholder 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349300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3D"/>
                </a:solidFill>
              </a:rPr>
              <a:t>CEOs; Kenyatta National Hospital &amp; Mbagathi County Hospital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37760" y="38862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</a:rPr>
              <a:t>Identify WHICH patients to flag for additional clinical encouragement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DATA UNDERSTANDING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1920240" cy="1188720"/>
          </a:xfrm>
          <a:prstGeom prst="rect">
            <a:avLst/>
          </a:prstGeom>
          <a:solidFill>
            <a:srgbClr val="0F1F3D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1887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</a:rPr>
              <a:t>26,707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783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Survey Respondents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097280"/>
            <a:ext cx="1920240" cy="1188720"/>
          </a:xfrm>
          <a:prstGeom prst="rect">
            <a:avLst/>
          </a:prstGeom>
          <a:solidFill>
            <a:srgbClr val="0F1F3D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23160" y="11887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</a:rPr>
              <a:t>35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423160" y="1783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Original Features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0" y="1097280"/>
            <a:ext cx="1920240" cy="1188720"/>
          </a:xfrm>
          <a:prstGeom prst="rect">
            <a:avLst/>
          </a:prstGeom>
          <a:solidFill>
            <a:srgbClr val="0F1F3D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11887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</a:rPr>
              <a:t>21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72000" y="1783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Features After Selection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720840" y="1097280"/>
            <a:ext cx="1920240" cy="1188720"/>
          </a:xfrm>
          <a:prstGeom prst="rect">
            <a:avLst/>
          </a:prstGeom>
          <a:solidFill>
            <a:srgbClr val="0F1F3D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11887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</a:rPr>
              <a:t>53% / 47%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720840" y="1783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Class Balance (No/Yes)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2468880"/>
            <a:ext cx="416052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2468880"/>
            <a:ext cx="64008" cy="1005840"/>
          </a:xfrm>
          <a:prstGeom prst="rect">
            <a:avLst/>
          </a:prstGeom>
          <a:solidFill>
            <a:srgbClr val="4A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5420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F3D"/>
                </a:solidFill>
              </a:rPr>
              <a:t>Behavioral (7)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29260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</a:rPr>
              <a:t>Binary features capturing protective actions like hand washing and face masks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09160" y="2468880"/>
            <a:ext cx="416052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468880"/>
            <a:ext cx="64008" cy="100584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22" name="Text 20"/>
          <p:cNvSpPr/>
          <p:nvPr/>
        </p:nvSpPr>
        <p:spPr>
          <a:xfrm>
            <a:off x="4892040" y="25420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F3D"/>
                </a:solidFill>
              </a:rPr>
              <a:t>Opinion (6)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92040" y="29260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</a:rPr>
              <a:t>Ordinal features (1-5) capturing views on vaccine effectiveness and disease risk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3703320"/>
            <a:ext cx="416052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" y="3703320"/>
            <a:ext cx="64008" cy="1005840"/>
          </a:xfrm>
          <a:prstGeom prst="rect">
            <a:avLst/>
          </a:prstGeom>
          <a:solidFill>
            <a:srgbClr val="006400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7764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F3D"/>
                </a:solidFill>
              </a:rPr>
              <a:t>Clinical (4)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41605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</a:rPr>
              <a:t>Doctor recommendation, chronic conditions, health worker and health insurance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3703320"/>
            <a:ext cx="416052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09160" y="3703320"/>
            <a:ext cx="64008" cy="1005840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30" name="Text 28"/>
          <p:cNvSpPr/>
          <p:nvPr/>
        </p:nvSpPr>
        <p:spPr>
          <a:xfrm>
            <a:off x="4892040" y="37764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F3D"/>
                </a:solidFill>
              </a:rPr>
              <a:t>Demographic (4)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92040" y="41605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</a:rPr>
              <a:t>Age group, education, income and employment status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KEY EDA FINDINGS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41605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143000"/>
            <a:ext cx="64008" cy="1097280"/>
          </a:xfrm>
          <a:prstGeom prst="rect">
            <a:avLst/>
          </a:prstGeom>
          <a:solidFill>
            <a:srgbClr val="4A00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161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</a:rPr>
              <a:t>Opinion Features are Strongest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581912"/>
            <a:ext cx="3840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Perceived flu risk (r=0.390), doctor recommendation (r=0.369) and vaccine effectiveness belief (r=0.362) are the top three predictors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09160" y="1143000"/>
            <a:ext cx="41605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143000"/>
            <a:ext cx="64008" cy="109728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12161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</a:rPr>
              <a:t>Age is Critical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92040" y="1581912"/>
            <a:ext cx="3840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65+ years: 67.4% vaccinated vs 18-34 years: 28.5% — almost 40 percentage points difference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" y="1143000"/>
            <a:ext cx="41605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1143000"/>
            <a:ext cx="64008" cy="1097280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2161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</a:rPr>
              <a:t>Uncertainty Blocks Vaccination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1581912"/>
            <a:ext cx="3840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People who 'don't know' about side effects have the LOWEST vaccination rate (18.1%) — lower than even those who are worried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09160" y="2423160"/>
            <a:ext cx="41605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423160"/>
            <a:ext cx="64008" cy="1097280"/>
          </a:xfrm>
          <a:prstGeom prst="rect">
            <a:avLst/>
          </a:prstGeom>
          <a:solidFill>
            <a:srgbClr val="006400"/>
          </a:solidFill>
          <a:ln/>
        </p:spPr>
      </p:sp>
      <p:sp>
        <p:nvSpPr>
          <p:cNvPr id="18" name="Text 16"/>
          <p:cNvSpPr/>
          <p:nvPr/>
        </p:nvSpPr>
        <p:spPr>
          <a:xfrm>
            <a:off x="4892040" y="24963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</a:rPr>
              <a:t>Healthcare Access Matters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92040" y="2862072"/>
            <a:ext cx="3840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Health insurance (r=0.201) and chronic conditions (r=0.170) are strong predictors showing access drives uptake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2423160"/>
            <a:ext cx="41605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2423160"/>
            <a:ext cx="64008" cy="1097280"/>
          </a:xfrm>
          <a:prstGeom prst="rect">
            <a:avLst/>
          </a:prstGeom>
          <a:solidFill>
            <a:srgbClr val="4B0082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4963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</a:rPr>
              <a:t>Income Predicts Vaccination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2862072"/>
            <a:ext cx="3840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Below poverty: 36.3% vs above $75,000: 49.7% — socioeconomic barriers are real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09160" y="2423160"/>
            <a:ext cx="41605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2423160"/>
            <a:ext cx="64008" cy="1097280"/>
          </a:xfrm>
          <a:prstGeom prst="rect">
            <a:avLst/>
          </a:prstGeom>
          <a:solidFill>
            <a:srgbClr val="8B0000"/>
          </a:solidFill>
          <a:ln/>
        </p:spPr>
      </p:sp>
      <p:sp>
        <p:nvSpPr>
          <p:cNvPr id="26" name="Text 24"/>
          <p:cNvSpPr/>
          <p:nvPr/>
        </p:nvSpPr>
        <p:spPr>
          <a:xfrm>
            <a:off x="4892040" y="24963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</a:rPr>
              <a:t>Protective Behavior Signal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92040" y="2862072"/>
            <a:ext cx="3840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People who wash hands (49.1%) and avoid touching face (50.7%) are more likely to vaccinate than those who don't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DATA PREPARATION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1554480" cy="1280160"/>
          </a:xfrm>
          <a:prstGeom prst="rect">
            <a:avLst/>
          </a:prstGeom>
          <a:solidFill>
            <a:srgbClr val="4A0000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69164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Drop 14</a:t>
            </a:r>
            <a:endParaRPr 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Irrelevant Features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847088" y="155448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F3D"/>
                </a:solidFill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993392" y="1188720"/>
            <a:ext cx="1554480" cy="1280160"/>
          </a:xfrm>
          <a:prstGeom prst="rect">
            <a:avLst/>
          </a:prstGeom>
          <a:solidFill>
            <a:srgbClr val="0F1F3D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993392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993392" y="169164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Train Test</a:t>
            </a:r>
            <a:endParaRPr 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Split (80/20)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566160" y="155448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F3D"/>
                </a:solidFill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712464" y="1188720"/>
            <a:ext cx="1554480" cy="1280160"/>
          </a:xfrm>
          <a:prstGeom prst="rect">
            <a:avLst/>
          </a:prstGeom>
          <a:solidFill>
            <a:srgbClr val="006400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712464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712464" y="169164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Impute Missing</a:t>
            </a:r>
            <a:endParaRPr 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Values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285232" y="155448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F3D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31536" y="1188720"/>
            <a:ext cx="1554480" cy="1280160"/>
          </a:xfrm>
          <a:prstGeom prst="rect">
            <a:avLst/>
          </a:prstGeom>
          <a:solidFill>
            <a:srgbClr val="8B451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431536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31536" y="169164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Scale Numeric</a:t>
            </a:r>
            <a:endParaRPr 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Features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004304" y="155448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F3D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150608" y="1188720"/>
            <a:ext cx="1554480" cy="1280160"/>
          </a:xfrm>
          <a:prstGeom prst="rect">
            <a:avLst/>
          </a:prstGeom>
          <a:solidFill>
            <a:srgbClr val="4B0082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150608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150608" y="169164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Encode Categorical</a:t>
            </a:r>
            <a:endParaRPr 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Features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74320" y="26517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0000"/>
                </a:solidFill>
              </a:rPr>
              <a:t>Why this order matters - preventing data leakage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4320" y="30632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400"/>
                </a:solidFill>
              </a:rPr>
              <a:t>✓  </a:t>
            </a:r>
            <a:r>
              <a:rPr lang="en-US" sz="1050" dirty="0">
                <a:solidFill>
                  <a:srgbClr val="333333"/>
                </a:solidFill>
              </a:rPr>
              <a:t>Dropping columns before splitting is safe - no statistics are calculated, just removing columns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74320" y="3493008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400"/>
                </a:solidFill>
              </a:rPr>
              <a:t>✓  </a:t>
            </a:r>
            <a:r>
              <a:rPr lang="en-US" sz="1050" dirty="0">
                <a:solidFill>
                  <a:srgbClr val="333333"/>
                </a:solidFill>
              </a:rPr>
              <a:t>Splitting before imputing prevents test set values from influencing the median used to fill training data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74320" y="3922776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400"/>
                </a:solidFill>
              </a:rPr>
              <a:t>✓  </a:t>
            </a:r>
            <a:r>
              <a:rPr lang="en-US" sz="1050" dirty="0">
                <a:solidFill>
                  <a:srgbClr val="333333"/>
                </a:solidFill>
              </a:rPr>
              <a:t>Fitting the preprocessor on training data only then applying to test set - this is the correct approach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74320" y="4352544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400"/>
                </a:solidFill>
              </a:rPr>
              <a:t>✓  </a:t>
            </a:r>
            <a:r>
              <a:rPr lang="en-US" sz="1050" dirty="0">
                <a:solidFill>
                  <a:srgbClr val="333333"/>
                </a:solidFill>
              </a:rPr>
              <a:t>30 out of 36 columns had missing values - proper imputation was critical to model performance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MODELING APPROACH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85953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143000"/>
            <a:ext cx="64008" cy="65836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21615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12161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F3D"/>
                </a:solidFill>
              </a:rPr>
              <a:t>Logistic Regression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0" y="1252728"/>
            <a:ext cx="1097280" cy="274320"/>
          </a:xfrm>
          <a:prstGeom prst="rect">
            <a:avLst/>
          </a:prstGeom>
          <a:solidFill>
            <a:srgbClr val="64748B">
              <a:alpha val="2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4114800" y="12527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4748B"/>
                </a:solidFill>
              </a:rPr>
              <a:t>Baseline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0" y="1216152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Simple, interpretable benchmark. No tuning applied to establish true baseline performance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1911096"/>
            <a:ext cx="85953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911096"/>
            <a:ext cx="64008" cy="658368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19842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F3D"/>
                </a:solidFill>
              </a:rPr>
              <a:t>02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9842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F3D"/>
                </a:solidFill>
              </a:rPr>
              <a:t>Logistic Regression + Ridge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0" y="2020824"/>
            <a:ext cx="1097280" cy="274320"/>
          </a:xfrm>
          <a:prstGeom prst="rect">
            <a:avLst/>
          </a:prstGeom>
          <a:solidFill>
            <a:srgbClr val="0F1F3D">
              <a:alpha val="2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0" y="202082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F3D"/>
                </a:solidFill>
              </a:rPr>
              <a:t>Tuned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03520" y="198424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L2 regularization shrinks all coefficients to reduce overfitting. C parameter tuned with GridSearchCV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2679192"/>
            <a:ext cx="85953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679192"/>
            <a:ext cx="64008" cy="658368"/>
          </a:xfrm>
          <a:prstGeom prst="rect">
            <a:avLst/>
          </a:prstGeom>
          <a:solidFill>
            <a:srgbClr val="4A0000"/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2752344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0000"/>
                </a:solidFill>
              </a:rPr>
              <a:t>03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275234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F3D"/>
                </a:solidFill>
              </a:rPr>
              <a:t>Logistic Regression + Lasso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0" y="2788920"/>
            <a:ext cx="1097280" cy="274320"/>
          </a:xfrm>
          <a:prstGeom prst="rect">
            <a:avLst/>
          </a:prstGeom>
          <a:solidFill>
            <a:srgbClr val="4A0000">
              <a:alpha val="2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0" y="2788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0000"/>
                </a:solidFill>
              </a:rPr>
              <a:t>Tuned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303520" y="275234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L1 regularization shrinks some coefficients to zero performing automatic feature selection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3447288"/>
            <a:ext cx="85953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74320" y="3447288"/>
            <a:ext cx="64008" cy="65836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27" name="Text 25"/>
          <p:cNvSpPr/>
          <p:nvPr/>
        </p:nvSpPr>
        <p:spPr>
          <a:xfrm>
            <a:off x="411480" y="35204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4513"/>
                </a:solidFill>
              </a:rPr>
              <a:t>04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" y="3520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F3D"/>
                </a:solidFill>
              </a:rPr>
              <a:t>Decision Tree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114800" y="3557016"/>
            <a:ext cx="1097280" cy="274320"/>
          </a:xfrm>
          <a:prstGeom prst="rect">
            <a:avLst/>
          </a:prstGeom>
          <a:solidFill>
            <a:srgbClr val="8B4513">
              <a:alpha val="2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4114800" y="355701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4513"/>
                </a:solidFill>
              </a:rPr>
              <a:t>Nonparametric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303520" y="35204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Captures non-linear relationships. max_depth tuned to prevent overfitting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74320" y="4215384"/>
            <a:ext cx="85953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274320" y="4215384"/>
            <a:ext cx="64008" cy="658368"/>
          </a:xfrm>
          <a:prstGeom prst="rect">
            <a:avLst/>
          </a:prstGeom>
          <a:solidFill>
            <a:srgbClr val="006400"/>
          </a:solidFill>
          <a:ln/>
        </p:spPr>
      </p:sp>
      <p:sp>
        <p:nvSpPr>
          <p:cNvPr id="34" name="Text 32"/>
          <p:cNvSpPr/>
          <p:nvPr/>
        </p:nvSpPr>
        <p:spPr>
          <a:xfrm>
            <a:off x="411480" y="4288536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6400"/>
                </a:solidFill>
              </a:rPr>
              <a:t>05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2960" y="428853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F3D"/>
                </a:solidFill>
              </a:rPr>
              <a:t>Random Forest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114800" y="4325112"/>
            <a:ext cx="1097280" cy="274320"/>
          </a:xfrm>
          <a:prstGeom prst="rect">
            <a:avLst/>
          </a:prstGeom>
          <a:solidFill>
            <a:srgbClr val="006400">
              <a:alpha val="2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114800" y="43251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6400"/>
                </a:solidFill>
              </a:rPr>
              <a:t>Ensemble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303520" y="4288536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Combines 100-200 trees using bagging. Most robust model — our best performer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MODEL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5943600" cy="50292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17043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Model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480560" y="11704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0000"/>
                </a:solidFill>
              </a:rPr>
              <a:t>ROC AUC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0" y="117043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Result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664208"/>
            <a:ext cx="594360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760" y="17373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</a:rPr>
              <a:t>Logistic Regression Baseline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480560" y="17373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A0000"/>
                </a:solidFill>
              </a:rPr>
              <a:t>0.8506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0" y="173736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</a:rPr>
              <a:t>Good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231136"/>
            <a:ext cx="594360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5760" y="23042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</a:rPr>
              <a:t>Logistic Regression + Ridge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80560" y="230428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A0000"/>
                </a:solidFill>
              </a:rPr>
              <a:t>0.8506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69280" y="230428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</a:rPr>
              <a:t>Good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798064"/>
            <a:ext cx="594360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5760" y="287121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</a:rPr>
              <a:t>Logistic Regression + Lasso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480560" y="287121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A0000"/>
                </a:solidFill>
              </a:rPr>
              <a:t>0.8506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0" y="2871216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</a:rPr>
              <a:t>Good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3364992"/>
            <a:ext cx="594360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760" y="3438144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</a:rPr>
              <a:t>Decision Tree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480560" y="343814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A0000"/>
                </a:solidFill>
              </a:rPr>
              <a:t>0.8356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69280" y="343814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</a:rPr>
              <a:t>Fair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3931920"/>
            <a:ext cx="5943600" cy="502920"/>
          </a:xfrm>
          <a:prstGeom prst="rect">
            <a:avLst/>
          </a:prstGeom>
          <a:solidFill>
            <a:srgbClr val="006400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65760" y="400507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Random Forest ★ BEST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480560" y="400507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0.8518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69280" y="40050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Best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0" y="1097280"/>
            <a:ext cx="2468880" cy="3749040"/>
          </a:xfrm>
          <a:prstGeom prst="rect">
            <a:avLst/>
          </a:prstGeom>
          <a:solidFill>
            <a:srgbClr val="006400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00800" y="1280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</a:rPr>
              <a:t>BEST MODEL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0800" y="173736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</a:rPr>
              <a:t>Random</a:t>
            </a:r>
            <a:endParaRPr lang="en-US" sz="24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</a:rPr>
              <a:t>Forest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6400800" y="27432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0EE90"/>
                </a:solidFill>
              </a:rPr>
              <a:t>ROC AUC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0" y="306324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0.8518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6400800" y="370332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90EE90"/>
                </a:solidFill>
              </a:rPr>
              <a:t>Significantly better</a:t>
            </a:r>
            <a:endParaRPr lang="en-US" sz="9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90EE90"/>
                </a:solidFill>
              </a:rPr>
              <a:t>than random (0.5)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WHAT DRIVES VACCINATION?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10515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</a:rPr>
              <a:t>Top Predictors from Random Forest Feature Importance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560320" y="1508760"/>
            <a:ext cx="2139696" cy="292608"/>
          </a:xfrm>
          <a:prstGeom prst="rect">
            <a:avLst/>
          </a:prstGeom>
          <a:solidFill>
            <a:srgbClr val="4A000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5087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1F3D"/>
                </a:solidFill>
              </a:rPr>
              <a:t>opinion_seas_risk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745736" y="15087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0000"/>
                </a:solidFill>
              </a:rPr>
              <a:t>r=0.39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0" y="1956816"/>
            <a:ext cx="2024482" cy="292608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956816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1F3D"/>
                </a:solidFill>
              </a:rPr>
              <a:t>doctor_recc_seasonal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30522" y="195681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1F3D"/>
                </a:solidFill>
              </a:rPr>
              <a:t>r=0.369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2404872"/>
            <a:ext cx="1986077" cy="29260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240487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1F3D"/>
                </a:solidFill>
              </a:rPr>
              <a:t>opinion_seas_vacc_effective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92117" y="240487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4513"/>
                </a:solidFill>
              </a:rPr>
              <a:t>r=0.362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560320" y="2852928"/>
            <a:ext cx="1102766" cy="292608"/>
          </a:xfrm>
          <a:prstGeom prst="rect">
            <a:avLst/>
          </a:prstGeom>
          <a:solidFill>
            <a:srgbClr val="006400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28529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1F3D"/>
                </a:solidFill>
              </a:rPr>
              <a:t>health_insurance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708806" y="285292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400"/>
                </a:solidFill>
              </a:rPr>
              <a:t>r=0.201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560320" y="3300984"/>
            <a:ext cx="932688" cy="292608"/>
          </a:xfrm>
          <a:prstGeom prst="rect">
            <a:avLst/>
          </a:prstGeom>
          <a:solidFill>
            <a:srgbClr val="4B0082"/>
          </a:solidFill>
          <a:ln/>
        </p:spPr>
      </p:sp>
      <p:sp>
        <p:nvSpPr>
          <p:cNvPr id="18" name="Text 16"/>
          <p:cNvSpPr/>
          <p:nvPr/>
        </p:nvSpPr>
        <p:spPr>
          <a:xfrm>
            <a:off x="274320" y="330098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1F3D"/>
                </a:solidFill>
              </a:rPr>
              <a:t>chronic_med_condition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538728" y="330098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B0082"/>
                </a:solidFill>
              </a:rPr>
              <a:t>r=0.17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560320" y="3749040"/>
            <a:ext cx="696773" cy="292608"/>
          </a:xfrm>
          <a:prstGeom prst="rect">
            <a:avLst/>
          </a:prstGeom>
          <a:solidFill>
            <a:srgbClr val="8B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37490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1F3D"/>
                </a:solidFill>
              </a:rPr>
              <a:t>health_worker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02813" y="374904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0000"/>
                </a:solidFill>
              </a:rPr>
              <a:t>r=0.127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60320" y="4197096"/>
            <a:ext cx="658368" cy="292608"/>
          </a:xfrm>
          <a:prstGeom prst="rect">
            <a:avLst/>
          </a:prstGeom>
          <a:solidFill>
            <a:srgbClr val="4A0000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" y="4197096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1F3D"/>
                </a:solidFill>
              </a:rPr>
              <a:t>behavioral_touch_face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64408" y="419709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0000"/>
                </a:solidFill>
              </a:rPr>
              <a:t>r=0.12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560320" y="4645152"/>
            <a:ext cx="614477" cy="292608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27" name="Text 25"/>
          <p:cNvSpPr/>
          <p:nvPr/>
        </p:nvSpPr>
        <p:spPr>
          <a:xfrm>
            <a:off x="274320" y="464515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1F3D"/>
                </a:solidFill>
              </a:rPr>
              <a:t>behavioral_wash_hands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20517" y="46451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1F3D"/>
                </a:solidFill>
              </a:rPr>
              <a:t>r=0.112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RECOMMENDATIONS : COUNTY DIRECTOR OF HEALTH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41605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143000"/>
            <a:ext cx="4160520" cy="384048"/>
          </a:xfrm>
          <a:prstGeom prst="rect">
            <a:avLst/>
          </a:prstGeom>
          <a:solidFill>
            <a:srgbClr val="4A0000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" y="12070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Target Low Risk Perception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4048" y="164592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333"/>
                </a:solidFill>
              </a:rPr>
              <a:t>opinion_seas_risk is the strongest predictor. Communities that perceive low flu risk are significantly less likely to vaccinate. Deploy risk education campaigns before each flu season using community health workers.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09160" y="1143000"/>
            <a:ext cx="41605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143000"/>
            <a:ext cx="4160520" cy="384048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10" name="Text 8"/>
          <p:cNvSpPr/>
          <p:nvPr/>
        </p:nvSpPr>
        <p:spPr>
          <a:xfrm>
            <a:off x="4818888" y="12070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Focus on Younger Populations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18888" y="164592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333"/>
                </a:solidFill>
              </a:rPr>
              <a:t>18-34 years: only 28.5% vaccinated vs 65+ years: 67.4%. Partner with universities and workplaces. Consider mobile vaccination units at youth frequented locations.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" y="3017520"/>
            <a:ext cx="41605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3017520"/>
            <a:ext cx="4160520" cy="38404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14" name="Text 12"/>
          <p:cNvSpPr/>
          <p:nvPr/>
        </p:nvSpPr>
        <p:spPr>
          <a:xfrm>
            <a:off x="384048" y="30815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Remove Financial Barriers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84048" y="352044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333"/>
                </a:solidFill>
              </a:rPr>
              <a:t>Below poverty: 36.3% vs above poverty: 49.7%. Provide free seasonal flu vaccination at all public health facilities. Target unemployed populations (lowest at 30.2%).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09160" y="3017520"/>
            <a:ext cx="41605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3017520"/>
            <a:ext cx="4160520" cy="384048"/>
          </a:xfrm>
          <a:prstGeom prst="rect">
            <a:avLst/>
          </a:prstGeom>
          <a:solidFill>
            <a:srgbClr val="006400"/>
          </a:solidFill>
          <a:ln/>
        </p:spPr>
      </p:sp>
      <p:sp>
        <p:nvSpPr>
          <p:cNvPr id="18" name="Text 16"/>
          <p:cNvSpPr/>
          <p:nvPr/>
        </p:nvSpPr>
        <p:spPr>
          <a:xfrm>
            <a:off x="4818888" y="30815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Counter Misinformation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18888" y="352044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333"/>
                </a:solidFill>
              </a:rPr>
              <a:t>Belief in effectiveness (r=0.362) is a top predictor. Use trusted community leaders as vaccine champions. Focus on informing not just reassuring communities.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RECOMMENDATIONS : COUNTY REFERRAL HOSPITAL CEOs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41605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143000"/>
            <a:ext cx="4160520" cy="384048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" y="12070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Mandate Doctor Recommendations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4048" y="164592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333"/>
                </a:solidFill>
              </a:rPr>
              <a:t>doctor_recc_seasonal (r=0.369) is the second strongest predictor. Implement a clinical protocol requiring all clinicians to proactively recommend seasonal flu vaccination during every consultation.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09160" y="1143000"/>
            <a:ext cx="41605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143000"/>
            <a:ext cx="4160520" cy="384048"/>
          </a:xfrm>
          <a:prstGeom prst="rect">
            <a:avLst/>
          </a:prstGeom>
          <a:solidFill>
            <a:srgbClr val="4A0000"/>
          </a:solidFill>
          <a:ln/>
        </p:spPr>
      </p:sp>
      <p:sp>
        <p:nvSpPr>
          <p:cNvPr id="10" name="Text 8"/>
          <p:cNvSpPr/>
          <p:nvPr/>
        </p:nvSpPr>
        <p:spPr>
          <a:xfrm>
            <a:off x="4818888" y="12070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Target Uninsured Patients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18888" y="164592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333"/>
                </a:solidFill>
              </a:rPr>
              <a:t>health_insurance (r=0.201) is a strong predictor. Offer free seasonal flu vaccination regardless of insurance status. Flag uninsured patients for proactive outreach before each flu season.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" y="3017520"/>
            <a:ext cx="41605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3017520"/>
            <a:ext cx="4160520" cy="38404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14" name="Text 12"/>
          <p:cNvSpPr/>
          <p:nvPr/>
        </p:nvSpPr>
        <p:spPr>
          <a:xfrm>
            <a:off x="384048" y="30815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Prioritize Chronic Condition Patients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84048" y="352044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333"/>
                </a:solidFill>
              </a:rPr>
              <a:t>chronic_med_condition (r=0.170). Ensure all chronic condition patients are contacted before each flu season. Integrate vaccination into chronic disease management protocols.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09160" y="3017520"/>
            <a:ext cx="41605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3017520"/>
            <a:ext cx="4160520" cy="384048"/>
          </a:xfrm>
          <a:prstGeom prst="rect">
            <a:avLst/>
          </a:prstGeom>
          <a:solidFill>
            <a:srgbClr val="006400"/>
          </a:solidFill>
          <a:ln/>
        </p:spPr>
      </p:sp>
      <p:sp>
        <p:nvSpPr>
          <p:cNvPr id="18" name="Text 16"/>
          <p:cNvSpPr/>
          <p:nvPr/>
        </p:nvSpPr>
        <p:spPr>
          <a:xfrm>
            <a:off x="4818888" y="30815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Address Side Effect Uncertainty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18888" y="352044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333"/>
                </a:solidFill>
              </a:rPr>
              <a:t>Patients who say 'Don't Know' about side effects have 18.1% vaccination — the lowest. Train clinicians to proactively address uncertainty not just worry. Provide clear written information.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MODEL LIMITATIONS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69748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97280"/>
            <a:ext cx="2697480" cy="384048"/>
          </a:xfrm>
          <a:prstGeom prst="rect">
            <a:avLst/>
          </a:prstGeom>
          <a:solidFill>
            <a:srgbClr val="4A000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14300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Data Limitations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60020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4A0000"/>
                </a:solidFill>
              </a:rPr>
              <a:t>• </a:t>
            </a:r>
            <a:r>
              <a:rPr lang="en-US" sz="950" dirty="0">
                <a:solidFill>
                  <a:srgbClr val="333333"/>
                </a:solidFill>
              </a:rPr>
              <a:t>US 2009 data - may not perfectly represent the Kenyan population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65760" y="237744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4A0000"/>
                </a:solidFill>
              </a:rPr>
              <a:t>• </a:t>
            </a:r>
            <a:r>
              <a:rPr lang="en-US" sz="950" dirty="0">
                <a:solidFill>
                  <a:srgbClr val="333333"/>
                </a:solidFill>
              </a:rPr>
              <a:t>Self-reported survey data may contain response bias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65760" y="315468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4A0000"/>
                </a:solidFill>
              </a:rPr>
              <a:t>• </a:t>
            </a:r>
            <a:r>
              <a:rPr lang="en-US" sz="950" dirty="0">
                <a:solidFill>
                  <a:srgbClr val="333333"/>
                </a:solidFill>
              </a:rPr>
              <a:t>Dataset skews older, white and educated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65760" y="393192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4A0000"/>
                </a:solidFill>
              </a:rPr>
              <a:t>• </a:t>
            </a:r>
            <a:r>
              <a:rPr lang="en-US" sz="950" dirty="0">
                <a:solidFill>
                  <a:srgbClr val="333333"/>
                </a:solidFill>
              </a:rPr>
              <a:t>health_insurance has 45.96% missing values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154680" y="1097280"/>
            <a:ext cx="269748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1097280"/>
            <a:ext cx="2697480" cy="384048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13" name="Text 11"/>
          <p:cNvSpPr/>
          <p:nvPr/>
        </p:nvSpPr>
        <p:spPr>
          <a:xfrm>
            <a:off x="3246120" y="114300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Model Limitations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46120" y="160020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0F1F3D"/>
                </a:solidFill>
              </a:rPr>
              <a:t>• </a:t>
            </a:r>
            <a:r>
              <a:rPr lang="en-US" sz="950" dirty="0">
                <a:solidFill>
                  <a:srgbClr val="333333"/>
                </a:solidFill>
              </a:rPr>
              <a:t>Historical 2009 data - behavior may have changed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246120" y="237744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0F1F3D"/>
                </a:solidFill>
              </a:rPr>
              <a:t>• </a:t>
            </a:r>
            <a:r>
              <a:rPr lang="en-US" sz="950" dirty="0">
                <a:solidFill>
                  <a:srgbClr val="333333"/>
                </a:solidFill>
              </a:rPr>
              <a:t>Random Forest is less interpretable than Logistic Regression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46120" y="315468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0F1F3D"/>
                </a:solidFill>
              </a:rPr>
              <a:t>• </a:t>
            </a:r>
            <a:r>
              <a:rPr lang="en-US" sz="950" dirty="0">
                <a:solidFill>
                  <a:srgbClr val="333333"/>
                </a:solidFill>
              </a:rPr>
              <a:t>Model fairness across subgroups was not tested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246120" y="393192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0F1F3D"/>
                </a:solidFill>
              </a:rPr>
              <a:t>• </a:t>
            </a:r>
            <a:r>
              <a:rPr lang="en-US" sz="950" dirty="0">
                <a:solidFill>
                  <a:srgbClr val="333333"/>
                </a:solidFill>
              </a:rPr>
              <a:t>Predicts likelihood - cannot determine causality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35040" y="1097280"/>
            <a:ext cx="269748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35040" y="1097280"/>
            <a:ext cx="2697480" cy="38404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114300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Scope Limitations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26480" y="160020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B4513"/>
                </a:solidFill>
              </a:rPr>
              <a:t>• </a:t>
            </a:r>
            <a:r>
              <a:rPr lang="en-US" sz="950" dirty="0">
                <a:solidFill>
                  <a:srgbClr val="333333"/>
                </a:solidFill>
              </a:rPr>
              <a:t>Does not account for vaccine availability and cost in Kenya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126480" y="237744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B4513"/>
                </a:solidFill>
              </a:rPr>
              <a:t>• </a:t>
            </a:r>
            <a:r>
              <a:rPr lang="en-US" sz="950" dirty="0">
                <a:solidFill>
                  <a:srgbClr val="333333"/>
                </a:solidFill>
              </a:rPr>
              <a:t>Geographic variables were US-specific and had to be dropped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126480" y="315468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B4513"/>
                </a:solidFill>
              </a:rPr>
              <a:t>• </a:t>
            </a:r>
            <a:r>
              <a:rPr lang="en-US" sz="950" dirty="0">
                <a:solidFill>
                  <a:srgbClr val="333333"/>
                </a:solidFill>
              </a:rPr>
              <a:t>A Kenya-specific dataset would improve local applicability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126480" y="393192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B4513"/>
                </a:solidFill>
              </a:rPr>
              <a:t>• </a:t>
            </a:r>
            <a:r>
              <a:rPr lang="en-US" sz="950" dirty="0">
                <a:solidFill>
                  <a:srgbClr val="333333"/>
                </a:solidFill>
              </a:rPr>
              <a:t>Clinical validation in Kenyan hospitals is needed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IMPLEMENTATION MATRIX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69748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97280"/>
            <a:ext cx="2697480" cy="384048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14300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Immediate Actions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60020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0F1F3D"/>
                </a:solidFill>
              </a:rPr>
              <a:t>→ </a:t>
            </a:r>
            <a:r>
              <a:rPr lang="en-US" sz="950" dirty="0">
                <a:solidFill>
                  <a:srgbClr val="333333"/>
                </a:solidFill>
              </a:rPr>
              <a:t>Share findings with CDoH and Hospital CEO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65760" y="237744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0F1F3D"/>
                </a:solidFill>
              </a:rPr>
              <a:t>→ </a:t>
            </a:r>
            <a:r>
              <a:rPr lang="en-US" sz="950" dirty="0">
                <a:solidFill>
                  <a:srgbClr val="333333"/>
                </a:solidFill>
              </a:rPr>
              <a:t>Pilot community outreach targeting low vaccination groups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65760" y="315468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0F1F3D"/>
                </a:solidFill>
              </a:rPr>
              <a:t>→ </a:t>
            </a:r>
            <a:r>
              <a:rPr lang="en-US" sz="950" dirty="0">
                <a:solidFill>
                  <a:srgbClr val="333333"/>
                </a:solidFill>
              </a:rPr>
              <a:t>Implement doctor recommendation clinical protocol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65760" y="393192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0F1F3D"/>
                </a:solidFill>
              </a:rPr>
              <a:t>→ </a:t>
            </a:r>
            <a:r>
              <a:rPr lang="en-US" sz="950" dirty="0">
                <a:solidFill>
                  <a:srgbClr val="333333"/>
                </a:solidFill>
              </a:rPr>
              <a:t>Develop patient educational materials on vaccine effectiveness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154680" y="1097280"/>
            <a:ext cx="269748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1097280"/>
            <a:ext cx="2697480" cy="384048"/>
          </a:xfrm>
          <a:prstGeom prst="rect">
            <a:avLst/>
          </a:prstGeom>
          <a:solidFill>
            <a:srgbClr val="4A0000"/>
          </a:solidFill>
          <a:ln/>
        </p:spPr>
      </p:sp>
      <p:sp>
        <p:nvSpPr>
          <p:cNvPr id="13" name="Text 11"/>
          <p:cNvSpPr/>
          <p:nvPr/>
        </p:nvSpPr>
        <p:spPr>
          <a:xfrm>
            <a:off x="3246120" y="114300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Future Research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46120" y="160020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4A0000"/>
                </a:solidFill>
              </a:rPr>
              <a:t>→ </a:t>
            </a:r>
            <a:r>
              <a:rPr lang="en-US" sz="950" dirty="0">
                <a:solidFill>
                  <a:srgbClr val="333333"/>
                </a:solidFill>
              </a:rPr>
              <a:t>Collect Kenya-specific vaccination survey data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246120" y="237744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4A0000"/>
                </a:solidFill>
              </a:rPr>
              <a:t>→ </a:t>
            </a:r>
            <a:r>
              <a:rPr lang="en-US" sz="950" dirty="0">
                <a:solidFill>
                  <a:srgbClr val="333333"/>
                </a:solidFill>
              </a:rPr>
              <a:t>Test model fairness across demographic subgroups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46120" y="315468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4A0000"/>
                </a:solidFill>
              </a:rPr>
              <a:t>→ </a:t>
            </a:r>
            <a:r>
              <a:rPr lang="en-US" sz="950" dirty="0">
                <a:solidFill>
                  <a:srgbClr val="333333"/>
                </a:solidFill>
              </a:rPr>
              <a:t>Add county, urban/rural and distance to facility features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246120" y="393192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4A0000"/>
                </a:solidFill>
              </a:rPr>
              <a:t>→ </a:t>
            </a:r>
            <a:r>
              <a:rPr lang="en-US" sz="950" dirty="0">
                <a:solidFill>
                  <a:srgbClr val="333333"/>
                </a:solidFill>
              </a:rPr>
              <a:t>Investigate causal relationships between predictors and vaccination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35040" y="1097280"/>
            <a:ext cx="269748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35040" y="1097280"/>
            <a:ext cx="2697480" cy="38404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114300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Model Improvement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26480" y="160020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B4513"/>
                </a:solidFill>
              </a:rPr>
              <a:t>→ </a:t>
            </a:r>
            <a:r>
              <a:rPr lang="en-US" sz="950" dirty="0">
                <a:solidFill>
                  <a:srgbClr val="333333"/>
                </a:solidFill>
              </a:rPr>
              <a:t>Collect more recent data beyond 2009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126480" y="237744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B4513"/>
                </a:solidFill>
              </a:rPr>
              <a:t>→ </a:t>
            </a:r>
            <a:r>
              <a:rPr lang="en-US" sz="950" dirty="0">
                <a:solidFill>
                  <a:srgbClr val="333333"/>
                </a:solidFill>
              </a:rPr>
              <a:t>Explore Gradient Boosting and Stacking ensembles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126480" y="315468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B4513"/>
                </a:solidFill>
              </a:rPr>
              <a:t>→ </a:t>
            </a:r>
            <a:r>
              <a:rPr lang="en-US" sz="950" dirty="0">
                <a:solidFill>
                  <a:srgbClr val="333333"/>
                </a:solidFill>
              </a:rPr>
              <a:t>Build web app for health worker use at point of care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126480" y="393192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B4513"/>
                </a:solidFill>
              </a:rPr>
              <a:t>→ </a:t>
            </a:r>
            <a:r>
              <a:rPr lang="en-US" sz="950" dirty="0">
                <a:solidFill>
                  <a:srgbClr val="333333"/>
                </a:solidFill>
              </a:rPr>
              <a:t>Retrain annually as new vaccination data becomes available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4A00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-457200"/>
            <a:ext cx="4114800" cy="4114800"/>
          </a:xfrm>
          <a:prstGeom prst="ellipse">
            <a:avLst/>
          </a:prstGeom>
          <a:solidFill>
            <a:srgbClr val="4A0000">
              <a:alpha val="10000"/>
            </a:srgbClr>
          </a:solidFill>
          <a:ln w="12700">
            <a:solidFill>
              <a:srgbClr val="4A0000">
                <a:alpha val="2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640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500" dirty="0">
                <a:solidFill>
                  <a:srgbClr val="00B4D8"/>
                </a:solidFill>
              </a:rPr>
              <a:t>KEY TAKEAWAY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Opinion, access and</a:t>
            </a:r>
            <a:endParaRPr lang="en-US" sz="3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doctor recommendations</a:t>
            </a:r>
            <a:endParaRPr lang="en-US" sz="3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drive vaccination.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BD5E1"/>
                </a:solidFill>
              </a:rPr>
              <a:t>Addressing these three factors through targeted community outreach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BD5E1"/>
                </a:solidFill>
              </a:rPr>
              <a:t>and clinical protocols can significantly increase seasonal flu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BD5E1"/>
                </a:solidFill>
              </a:rPr>
              <a:t>vaccination rates in Kenya.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4617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Best Model: Random Forest  |  ROC AUC: 0.8518  |  Thank you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3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3EDE8B-6BF2-8DA6-F8C3-370671E10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594FE79-BE74-C440-B671-D59AD115CAF3}"/>
              </a:ext>
            </a:extLst>
          </p:cNvPr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4A0000"/>
          </a:solidFill>
          <a:ln/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38ACA1B-C3B4-2C03-E439-2474E19503DC}"/>
              </a:ext>
            </a:extLst>
          </p:cNvPr>
          <p:cNvSpPr/>
          <p:nvPr/>
        </p:nvSpPr>
        <p:spPr>
          <a:xfrm>
            <a:off x="5943600" y="-457200"/>
            <a:ext cx="4114800" cy="4114800"/>
          </a:xfrm>
          <a:prstGeom prst="ellipse">
            <a:avLst/>
          </a:prstGeom>
          <a:solidFill>
            <a:srgbClr val="4A0000">
              <a:alpha val="10000"/>
            </a:srgbClr>
          </a:solidFill>
          <a:ln w="12700">
            <a:solidFill>
              <a:srgbClr val="4A0000">
                <a:alpha val="20000"/>
              </a:srgbClr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09645DE-AAF8-5732-2D60-18677A785998}"/>
              </a:ext>
            </a:extLst>
          </p:cNvPr>
          <p:cNvSpPr/>
          <p:nvPr/>
        </p:nvSpPr>
        <p:spPr>
          <a:xfrm>
            <a:off x="2722099" y="1498209"/>
            <a:ext cx="5373858" cy="1744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THANK YOU!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430640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1294</Words>
  <Application>Microsoft Office PowerPoint</Application>
  <PresentationFormat>On-screen Show (16:9)</PresentationFormat>
  <Paragraphs>227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7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Seasonal Flu Vaccine Prediction</dc:title>
  <dc:subject>PptxGenJS Presentation</dc:subject>
  <dc:creator>PptxGenJS</dc:creator>
  <cp:lastModifiedBy>Naomi Opiyo</cp:lastModifiedBy>
  <cp:revision>7</cp:revision>
  <dcterms:created xsi:type="dcterms:W3CDTF">2026-03-15T08:43:31Z</dcterms:created>
  <dcterms:modified xsi:type="dcterms:W3CDTF">2026-03-16T07:23:26Z</dcterms:modified>
</cp:coreProperties>
</file>