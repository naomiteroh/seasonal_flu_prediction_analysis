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326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77159-EF10-4E58-8A27-C51367896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08AB1-C6D7-9ED4-F9DE-4E361DE83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8CCCD-10B1-C935-1237-86D1E933A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13871-33E6-83FD-B70E-E9C3CD45C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34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1D173-B6A3-A8C4-727C-CDD3C787E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672BB-FF1B-7613-2CC9-EB1152C97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755F3-B239-BD20-683E-760FB3670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55EF0-640A-DA28-8E56-9603C016E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33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4D8"/>
                </a:solidFill>
              </a:rPr>
              <a:t>SEASONAL FLU VACCINE PREDICTION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A Machine Learning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Classification Project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</a:rPr>
              <a:t>Following the CRISP-DM Framework | Kenyan Public Health 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NAOMI OPIYO  |  16</a:t>
            </a:r>
            <a:r>
              <a:rPr lang="en-US" sz="1000" baseline="30000" dirty="0">
                <a:solidFill>
                  <a:srgbClr val="64748B"/>
                </a:solidFill>
              </a:rPr>
              <a:t>TH</a:t>
            </a:r>
            <a:r>
              <a:rPr lang="en-US" sz="1000" dirty="0">
                <a:solidFill>
                  <a:srgbClr val="64748B"/>
                </a:solidFill>
              </a:rPr>
              <a:t>  MARCH 2026  |  Data: National 2009 H1N1 Flu Survey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C7794-E5FE-C3E3-53B2-E990FF01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DBAD86-CFCD-FCFE-95F2-C511A3066E0E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DE2CCB-D605-F893-6594-85652119B44B}"/>
              </a:ext>
            </a:extLst>
          </p:cNvPr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428B8D-31A9-ED6E-D766-BC9A2BC10BCA}"/>
              </a:ext>
            </a:extLst>
          </p:cNvPr>
          <p:cNvSpPr/>
          <p:nvPr/>
        </p:nvSpPr>
        <p:spPr>
          <a:xfrm>
            <a:off x="1804181" y="1566438"/>
            <a:ext cx="5535637" cy="24829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US" sz="1400" dirty="0"/>
              <a:t>Every flu season Kenya loses lives to a preventable disease.</a:t>
            </a:r>
          </a:p>
          <a:p>
            <a:r>
              <a:rPr lang="en-US" sz="1400" dirty="0"/>
              <a:t>We built a machine learning model to identify who is least </a:t>
            </a:r>
          </a:p>
          <a:p>
            <a:r>
              <a:rPr lang="en-US" sz="1400" dirty="0"/>
              <a:t>likely to vaccinate so that public health departments and </a:t>
            </a:r>
          </a:p>
          <a:p>
            <a:r>
              <a:rPr lang="en-US" sz="1400" dirty="0"/>
              <a:t>hospitals can intervene before it is too late.</a:t>
            </a:r>
          </a:p>
          <a:p>
            <a:endParaRPr lang="en-US" sz="1400" dirty="0"/>
          </a:p>
          <a:p>
            <a:r>
              <a:rPr lang="en-US" sz="1400" dirty="0"/>
              <a:t>Using survey data from 26,707 respondents we identified </a:t>
            </a:r>
          </a:p>
          <a:p>
            <a:r>
              <a:rPr lang="en-US" sz="1400" dirty="0"/>
              <a:t>the strongest predictors of vaccination behavior and </a:t>
            </a:r>
          </a:p>
          <a:p>
            <a:r>
              <a:rPr lang="en-US" sz="1400" dirty="0"/>
              <a:t>generated specific recommendations for two stakeholders.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24D6C3-B82B-1F40-3EA9-7586368BE320}"/>
              </a:ext>
            </a:extLst>
          </p:cNvPr>
          <p:cNvSpPr/>
          <p:nvPr/>
        </p:nvSpPr>
        <p:spPr>
          <a:xfrm>
            <a:off x="365760" y="11247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1B32737-6706-ACE4-6C7E-79FB4FD7B62A}"/>
              </a:ext>
            </a:extLst>
          </p:cNvPr>
          <p:cNvSpPr/>
          <p:nvPr/>
        </p:nvSpPr>
        <p:spPr>
          <a:xfrm>
            <a:off x="822959" y="1463040"/>
            <a:ext cx="7638757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
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6795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CRISP-DM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61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Business Understanding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Stakeholder, problem statement and why 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651760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61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Understanding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Dataset overview and key findings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2651760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61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Preparation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Cleaning, feature selection and preprocessing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2651760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383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Five models built iteratively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2651760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0332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383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Results and best model selection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8346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834640"/>
            <a:ext cx="2651760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3796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383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Actionable insights for stakeholders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UNDERSTANDING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247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Kenya has two flu seasons annually (March-May and October-December). Seasonal flu vaccination rates remain low particularly among younger and lower income populations.
</a:t>
            </a:r>
            <a:r>
              <a:rPr lang="en-US" sz="1100" b="1" dirty="0">
                <a:solidFill>
                  <a:srgbClr val="333333"/>
                </a:solidFill>
              </a:rPr>
              <a:t>Can we predict who will NOT get vaccinated so we can intervene proactively?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402336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247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Stakeholder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72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County Director of Health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Identify WHICH communities to target for seasonal flu outreach every flu season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30175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3017520"/>
            <a:ext cx="402336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04495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Stakeholder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493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CEOs; Kenyatta National Hospital &amp; Mbagathi County Hospital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886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Identify WHICH patients to flag for additional clinical encouragement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UNDERSTANDING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1188720"/>
          </a:xfrm>
          <a:prstGeom prst="rect">
            <a:avLst/>
          </a:prstGeom>
          <a:solidFill>
            <a:srgbClr val="0F1F3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26,707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Survey Respondents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097280"/>
            <a:ext cx="1920240" cy="1188720"/>
          </a:xfrm>
          <a:prstGeom prst="rect">
            <a:avLst/>
          </a:prstGeom>
          <a:solidFill>
            <a:srgbClr val="0F1F3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35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2316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Original Features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920240" cy="1188720"/>
          </a:xfrm>
          <a:prstGeom prst="rect">
            <a:avLst/>
          </a:prstGeom>
          <a:solidFill>
            <a:srgbClr val="0F1F3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21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Features After Selection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1097280"/>
            <a:ext cx="1920240" cy="1188720"/>
          </a:xfrm>
          <a:prstGeom prst="rect">
            <a:avLst/>
          </a:prstGeom>
          <a:solidFill>
            <a:srgbClr val="0F1F3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53% / 47%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Class Balance (No/Yes)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68880"/>
            <a:ext cx="64008" cy="1005840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Behavioral (7)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Binary features capturing protective actions like hand washing and face masks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46888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68880"/>
            <a:ext cx="64008" cy="10058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Opinion (6)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Ordinal features (1-5) capturing views on vaccine effectiveness and disease risk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03320"/>
            <a:ext cx="64008" cy="1005840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76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Clinical (4)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Doctor recommendation, chronic conditions, health worker and health insurance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70332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703320"/>
            <a:ext cx="64008" cy="100584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776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Demographic (4)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Age group, education, income and employment status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EDA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64008" cy="1097280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16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</a:rPr>
              <a:t>Opinion Features are Strongest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Perceived flu risk (r=0.390), doctor recommendation (r=0.369) and vaccine effectiveness belief (r=0.362) are the top three predictors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64008" cy="10972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16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</a:rPr>
              <a:t>Age is Critical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65+ years: 67.4% vaccinated vs 18-34 years: 28.5% — almost 40 percentage points difference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14300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143000"/>
            <a:ext cx="64008" cy="109728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216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</a:rPr>
              <a:t>Uncertainty Blocks Vaccination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1581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People who 'don't know' about side effects have the LOWEST vaccination rate (18.1%) — lower than even those who are worried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42316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423160"/>
            <a:ext cx="64008" cy="1097280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496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</a:rPr>
              <a:t>Healthcare Access Matters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86207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Health insurance (r=0.201) and chronic conditions (r=0.170) are strong predictors showing access drives uptake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42316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23160"/>
            <a:ext cx="64008" cy="109728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496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</a:rPr>
              <a:t>Income Predicts Vaccination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86207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Below poverty: 36.3% vs above $75,000: 49.7% — socioeconomic barriers are real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42316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423160"/>
            <a:ext cx="64008" cy="10972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496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</a:rPr>
              <a:t>Protective Behavior Signal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86207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People who wash hands (49.1%) and avoid touching face (50.7%) are more likely to vaccinate than those who don't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PREPARATION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1280160"/>
          </a:xfrm>
          <a:prstGeom prst="rect">
            <a:avLst/>
          </a:prstGeom>
          <a:solidFill>
            <a:srgbClr val="4A00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Drop 14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Irrelevant Features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47088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93392" y="1188720"/>
            <a:ext cx="1554480" cy="1280160"/>
          </a:xfrm>
          <a:prstGeom prst="rect">
            <a:avLst/>
          </a:prstGeom>
          <a:solidFill>
            <a:srgbClr val="0F1F3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93392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93392" y="1691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Train Test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Split (80/20)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12464" y="1188720"/>
            <a:ext cx="1554480" cy="1280160"/>
          </a:xfrm>
          <a:prstGeom prst="rect">
            <a:avLst/>
          </a:prstGeom>
          <a:solidFill>
            <a:srgbClr val="0064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12464" y="1691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Impute Missing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Values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85232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31536" y="1188720"/>
            <a:ext cx="1554480" cy="1280160"/>
          </a:xfrm>
          <a:prstGeom prst="rect">
            <a:avLst/>
          </a:prstGeom>
          <a:solidFill>
            <a:srgbClr val="8B451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31536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31536" y="1691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Scale Numeric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04304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50608" y="1188720"/>
            <a:ext cx="1554480" cy="1280160"/>
          </a:xfrm>
          <a:prstGeom prst="rect">
            <a:avLst/>
          </a:prstGeom>
          <a:solidFill>
            <a:srgbClr val="4B008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50608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50608" y="1691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Encode Categorical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26517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0000"/>
                </a:solidFill>
              </a:rPr>
              <a:t>Why this order matters - preventing data leakage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400"/>
                </a:solidFill>
              </a:rPr>
              <a:t>✓  </a:t>
            </a:r>
            <a:r>
              <a:rPr lang="en-US" sz="1050" dirty="0">
                <a:solidFill>
                  <a:srgbClr val="333333"/>
                </a:solidFill>
              </a:rPr>
              <a:t>Dropping columns before splitting is safe - no statistics are calculated, just removing columns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34930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400"/>
                </a:solidFill>
              </a:rPr>
              <a:t>✓  </a:t>
            </a:r>
            <a:r>
              <a:rPr lang="en-US" sz="1050" dirty="0">
                <a:solidFill>
                  <a:srgbClr val="333333"/>
                </a:solidFill>
              </a:rPr>
              <a:t>Splitting before imputing prevents test set values from influencing the median used to fill training data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392277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400"/>
                </a:solidFill>
              </a:rPr>
              <a:t>✓  </a:t>
            </a:r>
            <a:r>
              <a:rPr lang="en-US" sz="1050" dirty="0">
                <a:solidFill>
                  <a:srgbClr val="333333"/>
                </a:solidFill>
              </a:rPr>
              <a:t>Fitting the preprocessor on training data only then applying to test set - this is the correct approach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435254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400"/>
                </a:solidFill>
              </a:rPr>
              <a:t>✓  </a:t>
            </a:r>
            <a:r>
              <a:rPr lang="en-US" sz="1050" dirty="0">
                <a:solidFill>
                  <a:srgbClr val="333333"/>
                </a:solidFill>
              </a:rPr>
              <a:t>30 out of 36 columns had missing values - proper imputation was critical to model performance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MODELING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64008" cy="6583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161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16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252728"/>
            <a:ext cx="1097280" cy="274320"/>
          </a:xfrm>
          <a:prstGeom prst="rect">
            <a:avLst/>
          </a:prstGeom>
          <a:solidFill>
            <a:srgbClr val="64748B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252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Baseline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0" y="12161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Simple, interpretable benchmark. No tuning applied to establish true baseline performance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11096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11096"/>
            <a:ext cx="64008" cy="65836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9842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984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Logistic Regression + Ridge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2020824"/>
            <a:ext cx="1097280" cy="274320"/>
          </a:xfrm>
          <a:prstGeom prst="rect">
            <a:avLst/>
          </a:prstGeom>
          <a:solidFill>
            <a:srgbClr val="0F1F3D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20208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</a:rPr>
              <a:t>Tuned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19842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L2 regularization shrinks all coefficients to reduce overfitting. C parameter tuned with GridSearchCV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679192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679192"/>
            <a:ext cx="64008" cy="658368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7523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0000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752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Logistic Regression + Lasso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0" y="2788920"/>
            <a:ext cx="1097280" cy="274320"/>
          </a:xfrm>
          <a:prstGeom prst="rect">
            <a:avLst/>
          </a:prstGeom>
          <a:solidFill>
            <a:srgbClr val="4A0000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0000"/>
                </a:solidFill>
              </a:rPr>
              <a:t>Tuned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0" y="27523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L1 regularization shrinks some coefficients to zero performing automatic feature selection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44728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447288"/>
            <a:ext cx="64008" cy="65836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5204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4513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0" y="3557016"/>
            <a:ext cx="1097280" cy="274320"/>
          </a:xfrm>
          <a:prstGeom prst="rect">
            <a:avLst/>
          </a:prstGeom>
          <a:solidFill>
            <a:srgbClr val="8B4513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0" y="35570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4513"/>
                </a:solidFill>
              </a:rPr>
              <a:t>Nonparametric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0" y="3520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Captures non-linear relationships. max_depth tuned to prevent overfitting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215384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215384"/>
            <a:ext cx="64008" cy="658368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2885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00"/>
                </a:solidFill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42885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114800" y="4325112"/>
            <a:ext cx="1097280" cy="274320"/>
          </a:xfrm>
          <a:prstGeom prst="rect">
            <a:avLst/>
          </a:prstGeom>
          <a:solidFill>
            <a:srgbClr val="006400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0" y="4325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6400"/>
                </a:solidFill>
              </a:rPr>
              <a:t>Ensemble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0" y="4288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Combines 100-200 trees using bagging. Most robust model — our best performer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943600" cy="5029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70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80560" y="11704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0000"/>
                </a:solidFill>
              </a:rPr>
              <a:t>ROC AUC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11704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Result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5943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Logistic Regression Baseline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0000"/>
                </a:solidFill>
              </a:rPr>
              <a:t>0.8506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737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Good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5943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304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Logistic Regression + Ridge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23042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0000"/>
                </a:solidFill>
              </a:rPr>
              <a:t>0.8506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23042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Good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98064"/>
            <a:ext cx="5943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8712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Logistic Regression + Lasso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28712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0000"/>
                </a:solidFill>
              </a:rPr>
              <a:t>0.8506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8712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Good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64992"/>
            <a:ext cx="5943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4381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Decision Tree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80560" y="34381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0000"/>
                </a:solidFill>
              </a:rPr>
              <a:t>0.8356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34381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Fair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5943600" cy="502920"/>
          </a:xfrm>
          <a:prstGeom prst="rect">
            <a:avLst/>
          </a:prstGeom>
          <a:solidFill>
            <a:srgbClr val="0064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4005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Random Forest ★ BEST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80560" y="40050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0.8518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40050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1097280"/>
            <a:ext cx="2468880" cy="3749040"/>
          </a:xfrm>
          <a:prstGeom prst="rect">
            <a:avLst/>
          </a:prstGeom>
          <a:solidFill>
            <a:srgbClr val="00640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1280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BEST MODEL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1737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Random</a:t>
            </a:r>
            <a:endParaRPr lang="en-US" sz="2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Forest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40080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E90"/>
                </a:solidFill>
              </a:rPr>
              <a:t>ROC AUC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063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0.8518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400800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0EE90"/>
                </a:solidFill>
              </a:rPr>
              <a:t>Significantly better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0EE90"/>
                </a:solidFill>
              </a:rPr>
              <a:t>than random (0.5)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EVALUATING OUR MODEL PROPERLY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Beyond ROC AUC — Four Additional Evaluation Factors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34747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0" y="1417320"/>
            <a:ext cx="2011680" cy="347472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 Forest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2011680" cy="34747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463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Logistic Regression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764792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F3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ROC AUC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86000" y="1764792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4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0.8518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97680" y="1764792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F3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0.8506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148840"/>
            <a:ext cx="201168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194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F3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Runtime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86000" y="2148840"/>
            <a:ext cx="201168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2331720" y="2194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A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Slow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97680" y="2148840"/>
            <a:ext cx="201168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2194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4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2532888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578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F3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Explainability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286000" y="2532888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2578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A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297680" y="2532888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2578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4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2916936"/>
            <a:ext cx="201168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29626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F3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Parsimony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286000" y="2916936"/>
            <a:ext cx="201168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2" name="Text 30"/>
          <p:cNvSpPr/>
          <p:nvPr/>
        </p:nvSpPr>
        <p:spPr>
          <a:xfrm>
            <a:off x="2331720" y="29626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A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297680" y="2916936"/>
            <a:ext cx="201168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Text 32"/>
          <p:cNvSpPr/>
          <p:nvPr/>
        </p:nvSpPr>
        <p:spPr>
          <a:xfrm>
            <a:off x="4343400" y="29626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4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4320" y="3300984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346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F3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Ease of Deployment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286000" y="3300984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331720" y="3346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A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Complex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297680" y="3300984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343400" y="3346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4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Simple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00800" y="1417320"/>
            <a:ext cx="2468880" cy="2304288"/>
          </a:xfrm>
          <a:prstGeom prst="rect">
            <a:avLst/>
          </a:prstGeom>
          <a:solidFill>
            <a:srgbClr val="0F1F3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0080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Insight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92240" y="1920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ROC AUC difference between Random Forest and Logistic Regression is only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0080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0.0012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40080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Practically negligible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74320" y="3749040"/>
            <a:ext cx="60350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3749040"/>
            <a:ext cx="64008" cy="822960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794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64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✅  No Data Leakage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7200" y="40965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transformers fitted on training data only — imputation, scaling and encoding applied to test set using training statistics exclusively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400800" y="3749040"/>
            <a:ext cx="2468880" cy="8229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92240" y="3822192"/>
            <a:ext cx="2286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a resource constrained Kenyan clinical setting, Logistic Regression + Lasso is a strong alternative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DRIVES VACCINATION?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Top Predictors from Random Forest Feature Importance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0" y="1508760"/>
            <a:ext cx="2139696" cy="292608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08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</a:rPr>
              <a:t>opinion_seas_risk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45736" y="15087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0000"/>
                </a:solidFill>
              </a:rPr>
              <a:t>r=0.39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956816"/>
            <a:ext cx="2024482" cy="2926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9568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</a:rPr>
              <a:t>doctor_recc_seasonal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30522" y="19568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</a:rPr>
              <a:t>r=0.369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2404872"/>
            <a:ext cx="1986077" cy="2926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</a:rPr>
              <a:t>opinion_seas_vacc_effective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92117" y="2404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4513"/>
                </a:solidFill>
              </a:rPr>
              <a:t>r=0.362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2852928"/>
            <a:ext cx="1102766" cy="292608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8529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</a:rPr>
              <a:t>health_insurance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08806" y="28529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400"/>
                </a:solidFill>
              </a:rPr>
              <a:t>r=0.201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3300984"/>
            <a:ext cx="932688" cy="292608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3009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</a:rPr>
              <a:t>chronic_med_condition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38728" y="33009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B0082"/>
                </a:solidFill>
              </a:rPr>
              <a:t>r=0.17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3749040"/>
            <a:ext cx="696773" cy="29260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749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</a:rPr>
              <a:t>health_worker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02813" y="3749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</a:rPr>
              <a:t>r=0.127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0" y="4197096"/>
            <a:ext cx="658368" cy="292608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1970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</a:rPr>
              <a:t>behavioral_touch_face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64408" y="41970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0000"/>
                </a:solidFill>
              </a:rPr>
              <a:t>r=0.12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0" y="4645152"/>
            <a:ext cx="614477" cy="29260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6451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</a:rPr>
              <a:t>behavioral_wash_hands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20517" y="46451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</a:rPr>
              <a:t>r=0.112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RECOMMENDATIONS : COUNTY DIRECTOR OF HEALTH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160520" cy="384048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 Low Risk Perception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6459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opinion_seas_risk is the strongest predictor. Communities that perceive low flu risk are significantly less likely to vaccinate. Deploy risk education campaigns before each flu season using community health workers.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4160520" cy="38404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Focus on Younger Populations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8888" y="16459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18-34 years: only 28.5% vaccinated vs 65+ years: 67.4%. Partner with universities and workplaces. Consider mobile vaccination units at youth frequented locations.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17520"/>
            <a:ext cx="4160520" cy="38404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081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Remove Financial Barriers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5204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Below poverty: 36.3% vs above poverty: 49.7%. Provide free seasonal flu vaccination at all public health facilities. Target unemployed populations (lowest at 30.2%).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17520"/>
            <a:ext cx="4160520" cy="384048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3081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Counter Misinformation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35204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Belief in effectiveness (r=0.362) is a top predictor. Use trusted community leaders as vaccine champions. Focus on informing not just reassuring communities.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RECOMMENDATIONS : COUNTY REFERRAL HOSPITAL CEOs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160520" cy="38404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Mandate Doctor Recommendations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6459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doctor_recc_seasonal (r=0.369) is the second strongest predictor. Implement a clinical protocol requiring all clinicians to proactively recommend seasonal flu vaccination during every consultation.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4160520" cy="384048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 Uninsured Patients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8888" y="16459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health_insurance (r=0.201) is a strong predictor. Offer free seasonal flu vaccination regardless of insurance status. Flag uninsured patients for proactive outreach before each flu season.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17520"/>
            <a:ext cx="4160520" cy="38404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081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Prioritize Chronic Condition Patients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5204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chronic_med_condition (r=0.170). Ensure all chronic condition patients are contacted before each flu season. Integrate vaccination into chronic disease management protocols.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17520"/>
            <a:ext cx="4160520" cy="384048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3081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Address Side Effect Uncertainty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35204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Patients who say 'Don't Know' about side effects have 18.1% vaccination — the lowest. Train clinicians to proactively address uncertainty not just worry. Provide clear written information.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697480" cy="384048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Limitations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A0000"/>
                </a:solidFill>
              </a:rPr>
              <a:t>• </a:t>
            </a:r>
            <a:r>
              <a:rPr lang="en-US" sz="950" dirty="0">
                <a:solidFill>
                  <a:srgbClr val="333333"/>
                </a:solidFill>
              </a:rPr>
              <a:t>US 2009 data - may not perfectly represent the Kenyan population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A0000"/>
                </a:solidFill>
              </a:rPr>
              <a:t>• </a:t>
            </a:r>
            <a:r>
              <a:rPr lang="en-US" sz="950" dirty="0">
                <a:solidFill>
                  <a:srgbClr val="333333"/>
                </a:solidFill>
              </a:rPr>
              <a:t>Self-reported survey data may contain response bias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A0000"/>
                </a:solidFill>
              </a:rPr>
              <a:t>• </a:t>
            </a:r>
            <a:r>
              <a:rPr lang="en-US" sz="950" dirty="0">
                <a:solidFill>
                  <a:srgbClr val="333333"/>
                </a:solidFill>
              </a:rPr>
              <a:t>Dataset skews older, white and educated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9319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A0000"/>
                </a:solidFill>
              </a:rPr>
              <a:t>• </a:t>
            </a:r>
            <a:r>
              <a:rPr lang="en-US" sz="950" dirty="0">
                <a:solidFill>
                  <a:srgbClr val="333333"/>
                </a:solidFill>
              </a:rPr>
              <a:t>health_insurance has 45.96% missing values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97280"/>
            <a:ext cx="2697480" cy="38404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143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Limitations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600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F1F3D"/>
                </a:solidFill>
              </a:rPr>
              <a:t>• </a:t>
            </a:r>
            <a:r>
              <a:rPr lang="en-US" sz="950" dirty="0">
                <a:solidFill>
                  <a:srgbClr val="333333"/>
                </a:solidFill>
              </a:rPr>
              <a:t>Historical 2009 data - behavior may have changed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46120" y="23774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F1F3D"/>
                </a:solidFill>
              </a:rPr>
              <a:t>• </a:t>
            </a:r>
            <a:r>
              <a:rPr lang="en-US" sz="950" dirty="0">
                <a:solidFill>
                  <a:srgbClr val="333333"/>
                </a:solidFill>
              </a:rPr>
              <a:t>Random Forest is less interpretable than Logistic Regression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46120" y="3154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F1F3D"/>
                </a:solidFill>
              </a:rPr>
              <a:t>• </a:t>
            </a:r>
            <a:r>
              <a:rPr lang="en-US" sz="950" dirty="0">
                <a:solidFill>
                  <a:srgbClr val="333333"/>
                </a:solidFill>
              </a:rPr>
              <a:t>Model fairness across subgroups was not tested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46120" y="39319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F1F3D"/>
                </a:solidFill>
              </a:rPr>
              <a:t>• </a:t>
            </a:r>
            <a:r>
              <a:rPr lang="en-US" sz="950" dirty="0">
                <a:solidFill>
                  <a:srgbClr val="333333"/>
                </a:solidFill>
              </a:rPr>
              <a:t>Predicts likelihood - cannot determine causality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09728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97280"/>
            <a:ext cx="2697480" cy="38404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143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Scope Limitations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600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B4513"/>
                </a:solidFill>
              </a:rPr>
              <a:t>• </a:t>
            </a:r>
            <a:r>
              <a:rPr lang="en-US" sz="950" dirty="0">
                <a:solidFill>
                  <a:srgbClr val="333333"/>
                </a:solidFill>
              </a:rPr>
              <a:t>Does not account for vaccine availability and cost in Kenya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23774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B4513"/>
                </a:solidFill>
              </a:rPr>
              <a:t>• </a:t>
            </a:r>
            <a:r>
              <a:rPr lang="en-US" sz="950" dirty="0">
                <a:solidFill>
                  <a:srgbClr val="333333"/>
                </a:solidFill>
              </a:rPr>
              <a:t>Geographic variables were US-specific and had to be dropped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3154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B4513"/>
                </a:solidFill>
              </a:rPr>
              <a:t>• </a:t>
            </a:r>
            <a:r>
              <a:rPr lang="en-US" sz="950" dirty="0">
                <a:solidFill>
                  <a:srgbClr val="333333"/>
                </a:solidFill>
              </a:rPr>
              <a:t>A Kenya-specific dataset would improve local applicability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39319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B4513"/>
                </a:solidFill>
              </a:rPr>
              <a:t>• </a:t>
            </a:r>
            <a:r>
              <a:rPr lang="en-US" sz="950" dirty="0">
                <a:solidFill>
                  <a:srgbClr val="333333"/>
                </a:solidFill>
              </a:rPr>
              <a:t>Clinical validation in Kenyan hospitals is needed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IMPLEMENTATION MATRIX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697480" cy="38404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Immediate Actions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F1F3D"/>
                </a:solidFill>
              </a:rPr>
              <a:t>→ </a:t>
            </a:r>
            <a:r>
              <a:rPr lang="en-US" sz="950" dirty="0">
                <a:solidFill>
                  <a:srgbClr val="333333"/>
                </a:solidFill>
              </a:rPr>
              <a:t>Share findings with CDoH and Hospital CEO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F1F3D"/>
                </a:solidFill>
              </a:rPr>
              <a:t>→ </a:t>
            </a:r>
            <a:r>
              <a:rPr lang="en-US" sz="950" dirty="0">
                <a:solidFill>
                  <a:srgbClr val="333333"/>
                </a:solidFill>
              </a:rPr>
              <a:t>Pilot community outreach targeting low vaccination groups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F1F3D"/>
                </a:solidFill>
              </a:rPr>
              <a:t>→ </a:t>
            </a:r>
            <a:r>
              <a:rPr lang="en-US" sz="950" dirty="0">
                <a:solidFill>
                  <a:srgbClr val="333333"/>
                </a:solidFill>
              </a:rPr>
              <a:t>Implement doctor recommendation clinical protocol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9319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F1F3D"/>
                </a:solidFill>
              </a:rPr>
              <a:t>→ </a:t>
            </a:r>
            <a:r>
              <a:rPr lang="en-US" sz="950" dirty="0">
                <a:solidFill>
                  <a:srgbClr val="333333"/>
                </a:solidFill>
              </a:rPr>
              <a:t>Develop patient educational materials on vaccine effectiveness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97280"/>
            <a:ext cx="2697480" cy="384048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143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Future Research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600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A0000"/>
                </a:solidFill>
              </a:rPr>
              <a:t>→ </a:t>
            </a:r>
            <a:r>
              <a:rPr lang="en-US" sz="950" dirty="0">
                <a:solidFill>
                  <a:srgbClr val="333333"/>
                </a:solidFill>
              </a:rPr>
              <a:t>Collect Kenya-specific vaccination survey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46120" y="23774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A0000"/>
                </a:solidFill>
              </a:rPr>
              <a:t>→ </a:t>
            </a:r>
            <a:r>
              <a:rPr lang="en-US" sz="950" dirty="0">
                <a:solidFill>
                  <a:srgbClr val="333333"/>
                </a:solidFill>
              </a:rPr>
              <a:t>Test model fairness across demographic subgroups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46120" y="3154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A0000"/>
                </a:solidFill>
              </a:rPr>
              <a:t>→ </a:t>
            </a:r>
            <a:r>
              <a:rPr lang="en-US" sz="950" dirty="0">
                <a:solidFill>
                  <a:srgbClr val="333333"/>
                </a:solidFill>
              </a:rPr>
              <a:t>Add county, urban/rural and distance to facility features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46120" y="39319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A0000"/>
                </a:solidFill>
              </a:rPr>
              <a:t>→ </a:t>
            </a:r>
            <a:r>
              <a:rPr lang="en-US" sz="950" dirty="0">
                <a:solidFill>
                  <a:srgbClr val="333333"/>
                </a:solidFill>
              </a:rPr>
              <a:t>Investigate causal relationships between predictors and vaccination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09728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97280"/>
            <a:ext cx="2697480" cy="38404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143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Improvement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6002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B4513"/>
                </a:solidFill>
              </a:rPr>
              <a:t>→ </a:t>
            </a:r>
            <a:r>
              <a:rPr lang="en-US" sz="950" dirty="0">
                <a:solidFill>
                  <a:srgbClr val="333333"/>
                </a:solidFill>
              </a:rPr>
              <a:t>Collect more recent data beyond 2009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23774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B4513"/>
                </a:solidFill>
              </a:rPr>
              <a:t>→ </a:t>
            </a:r>
            <a:r>
              <a:rPr lang="en-US" sz="950" dirty="0">
                <a:solidFill>
                  <a:srgbClr val="333333"/>
                </a:solidFill>
              </a:rPr>
              <a:t>Explore Gradient Boosting and Stacking ensembles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3154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B4513"/>
                </a:solidFill>
              </a:rPr>
              <a:t>→ </a:t>
            </a:r>
            <a:r>
              <a:rPr lang="en-US" sz="950" dirty="0">
                <a:solidFill>
                  <a:srgbClr val="333333"/>
                </a:solidFill>
              </a:rPr>
              <a:t>Build web app for health worker use at point of care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39319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B4513"/>
                </a:solidFill>
              </a:rPr>
              <a:t>→ </a:t>
            </a:r>
            <a:r>
              <a:rPr lang="en-US" sz="950" dirty="0">
                <a:solidFill>
                  <a:srgbClr val="333333"/>
                </a:solidFill>
              </a:rPr>
              <a:t>Retrain annually as new vaccination data becomes available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4A0000">
              <a:alpha val="10000"/>
            </a:srgbClr>
          </a:solidFill>
          <a:ln w="12700">
            <a:solidFill>
              <a:srgbClr val="4A000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0B4D8"/>
                </a:solidFill>
              </a:rPr>
              <a:t>KEY TAKEAWAY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Opinion, access and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doctor recommendations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drive vaccination.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Addressing these three factors through targeted community outreach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and clinical protocols can significantly increase seasonal flu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vaccination rates in Kenya.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Best Model: Random Forest  |  ROC AUC: </a:t>
            </a:r>
            <a:r>
              <a:rPr lang="en-US" sz="1000">
                <a:solidFill>
                  <a:srgbClr val="64748B"/>
                </a:solidFill>
              </a:rPr>
              <a:t>0.8518  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EDE8B-6BF2-8DA6-F8C3-370671E10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94FE79-BE74-C440-B671-D59AD115CAF3}"/>
              </a:ext>
            </a:extLst>
          </p:cNvPr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A0000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8ACA1B-C3B4-2C03-E439-2474E19503DC}"/>
              </a:ext>
            </a:extLst>
          </p:cNvPr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4A0000">
              <a:alpha val="10000"/>
            </a:srgbClr>
          </a:solidFill>
          <a:ln w="12700">
            <a:solidFill>
              <a:srgbClr val="4A0000">
                <a:alpha val="2000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9645DE-AAF8-5732-2D60-18677A785998}"/>
              </a:ext>
            </a:extLst>
          </p:cNvPr>
          <p:cNvSpPr/>
          <p:nvPr/>
        </p:nvSpPr>
        <p:spPr>
          <a:xfrm>
            <a:off x="2722099" y="1498209"/>
            <a:ext cx="5373858" cy="1744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THANK YOU!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43064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1450</Words>
  <Application>Microsoft Office PowerPoint</Application>
  <PresentationFormat>On-screen Show (16:9)</PresentationFormat>
  <Paragraphs>266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Seasonal Flu Vaccine Prediction</dc:title>
  <dc:subject>PptxGenJS Presentation</dc:subject>
  <dc:creator>PptxGenJS</dc:creator>
  <cp:lastModifiedBy>Naomi Opiyo</cp:lastModifiedBy>
  <cp:revision>10</cp:revision>
  <dcterms:created xsi:type="dcterms:W3CDTF">2026-03-15T08:43:31Z</dcterms:created>
  <dcterms:modified xsi:type="dcterms:W3CDTF">2026-03-16T09:14:44Z</dcterms:modified>
</cp:coreProperties>
</file>